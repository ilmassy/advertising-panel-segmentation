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  <p:sldId id="268" r:id="rId15"/>
    <p:sldId id="256" r:id="rId16"/>
    <p:sldId id="274" r:id="rId17"/>
    <p:sldId id="270" r:id="rId18"/>
    <p:sldId id="271" r:id="rId19"/>
    <p:sldId id="276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mIoU (%)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17F-45DB-9FE8-573BC668F55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17F-45DB-9FE8-573BC668F557}"/>
              </c:ext>
            </c:extLst>
          </c:dPt>
          <c:dPt>
            <c:idx val="2"/>
            <c:invertIfNegative val="0"/>
            <c:bubble3D val="0"/>
            <c:spPr>
              <a:solidFill>
                <a:srgbClr val="F9A82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17F-45DB-9FE8-573BC668F557}"/>
              </c:ext>
            </c:extLst>
          </c:dPt>
          <c:dPt>
            <c:idx val="3"/>
            <c:invertIfNegative val="0"/>
            <c:bubble3D val="0"/>
            <c:spPr>
              <a:solidFill>
                <a:srgbClr val="54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17F-45DB-9FE8-573BC668F557}"/>
              </c:ext>
            </c:extLst>
          </c:dPt>
          <c:dPt>
            <c:idx val="4"/>
            <c:invertIfNegative val="0"/>
            <c:bubble3D val="0"/>
            <c:spPr>
              <a:solidFill>
                <a:srgbClr val="54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17F-45DB-9FE8-573BC668F557}"/>
              </c:ext>
            </c:extLst>
          </c:dPt>
          <c:dPt>
            <c:idx val="5"/>
            <c:invertIfNegative val="0"/>
            <c:bubble3D val="0"/>
            <c:spPr>
              <a:solidFill>
                <a:srgbClr val="54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17F-45DB-9FE8-573BC668F55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B0 Baseline</c:v>
                </c:pt>
                <c:pt idx="1">
                  <c:v>B1 Standard</c:v>
                </c:pt>
                <c:pt idx="2">
                  <c:v>B1 Augmented★</c:v>
                </c:pt>
                <c:pt idx="3">
                  <c:v>Optimized1</c:v>
                </c:pt>
                <c:pt idx="4">
                  <c:v>Optimized2</c:v>
                </c:pt>
                <c:pt idx="5">
                  <c:v>Optimized3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88.84</c:v>
                </c:pt>
                <c:pt idx="1">
                  <c:v>88.36</c:v>
                </c:pt>
                <c:pt idx="2">
                  <c:v>87.95</c:v>
                </c:pt>
                <c:pt idx="3">
                  <c:v>86.65</c:v>
                </c:pt>
                <c:pt idx="4">
                  <c:v>86.91</c:v>
                </c:pt>
                <c:pt idx="5">
                  <c:v>88.2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17F-45DB-9FE8-573BC668F55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8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8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Gap Val→Test (%)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E2F-4603-BEA2-81145DA7ABE0}"/>
              </c:ext>
            </c:extLst>
          </c:dPt>
          <c:dPt>
            <c:idx val="1"/>
            <c:invertIfNegative val="0"/>
            <c:bubble3D val="0"/>
            <c:spPr>
              <a:solidFill>
                <a:srgbClr val="C62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E2F-4603-BEA2-81145DA7ABE0}"/>
              </c:ext>
            </c:extLst>
          </c:dPt>
          <c:dPt>
            <c:idx val="2"/>
            <c:invertIfNegative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E2F-4603-BEA2-81145DA7ABE0}"/>
              </c:ext>
            </c:extLst>
          </c:dPt>
          <c:dPt>
            <c:idx val="3"/>
            <c:invertIfNegative val="0"/>
            <c:bubble3D val="0"/>
            <c:spPr>
              <a:solidFill>
                <a:srgbClr val="54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E2F-4603-BEA2-81145DA7ABE0}"/>
              </c:ext>
            </c:extLst>
          </c:dPt>
          <c:dPt>
            <c:idx val="4"/>
            <c:invertIfNegative val="0"/>
            <c:bubble3D val="0"/>
            <c:spPr>
              <a:solidFill>
                <a:srgbClr val="54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E2F-4603-BEA2-81145DA7ABE0}"/>
              </c:ext>
            </c:extLst>
          </c:dPt>
          <c:dPt>
            <c:idx val="5"/>
            <c:invertIfNegative val="0"/>
            <c:bubble3D val="0"/>
            <c:spPr>
              <a:solidFill>
                <a:srgbClr val="54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E2F-4603-BEA2-81145DA7ABE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B0 Baseline</c:v>
                </c:pt>
                <c:pt idx="1">
                  <c:v>B1 Standard</c:v>
                </c:pt>
                <c:pt idx="2">
                  <c:v>B1 Augm.★</c:v>
                </c:pt>
                <c:pt idx="3">
                  <c:v>Opt1</c:v>
                </c:pt>
                <c:pt idx="4">
                  <c:v>Opt2</c:v>
                </c:pt>
                <c:pt idx="5">
                  <c:v>Opt3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-1.69</c:v>
                </c:pt>
                <c:pt idx="1">
                  <c:v>-4.07</c:v>
                </c:pt>
                <c:pt idx="2">
                  <c:v>-0.69</c:v>
                </c:pt>
                <c:pt idx="3">
                  <c:v>-2.0699999999999998</c:v>
                </c:pt>
                <c:pt idx="4">
                  <c:v>-1.99</c:v>
                </c:pt>
                <c:pt idx="5">
                  <c:v>-1.78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E2F-4603-BEA2-81145DA7AB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8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1995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7675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5943600" cy="5029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109728"/>
            <a:ext cx="3200400" cy="5029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1371600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05156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Segmentazione Avanzata di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Pannelli Pubblicitari LED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65760" y="265176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High-Resolution Transformer Approach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Broadcast Sportivo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5760" y="3566160"/>
            <a:ext cx="2011680" cy="43891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35661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SegFormer B1 + 1080p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80760" y="5029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80760" y="7315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Massimiliano Giangreco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80760" y="1069848"/>
            <a:ext cx="2560320" cy="0"/>
          </a:xfrm>
          <a:prstGeom prst="line">
            <a:avLst/>
          </a:prstGeom>
          <a:noFill/>
          <a:ln w="6350">
            <a:solidFill>
              <a:srgbClr val="37474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0760" y="121615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Matricola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80760" y="144475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561883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80760" y="1783080"/>
            <a:ext cx="2560320" cy="0"/>
          </a:xfrm>
          <a:prstGeom prst="line">
            <a:avLst/>
          </a:prstGeom>
          <a:noFill/>
          <a:ln w="6350">
            <a:solidFill>
              <a:srgbClr val="3747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0760" y="1929384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 Accademico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080760" y="215798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2025/2026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080760" y="2496312"/>
            <a:ext cx="2560320" cy="0"/>
          </a:xfrm>
          <a:prstGeom prst="line">
            <a:avLst/>
          </a:prstGeom>
          <a:noFill/>
          <a:ln w="6350">
            <a:solidFill>
              <a:srgbClr val="37474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0760" y="264261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080760" y="287121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967 immagini @ 1080p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080760" y="3209544"/>
            <a:ext cx="2560320" cy="0"/>
          </a:xfrm>
          <a:prstGeom prst="line">
            <a:avLst/>
          </a:prstGeom>
          <a:noFill/>
          <a:ln w="6350">
            <a:solidFill>
              <a:srgbClr val="37474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80760" y="335584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mIoU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080760" y="35844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87.26%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080760" y="3922776"/>
            <a:ext cx="2560320" cy="0"/>
          </a:xfrm>
          <a:prstGeom prst="line">
            <a:avLst/>
          </a:prstGeom>
          <a:noFill/>
          <a:ln w="6350">
            <a:solidFill>
              <a:srgbClr val="37474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80760" y="40690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Val→Test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080760" y="42976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-0.69%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della Presentazione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02920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097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e Contesto Applicativo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508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Formalizzazione matematica, sfide del dominio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05840"/>
            <a:ext cx="502920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0584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94960" y="1097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Dataset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94960" y="1508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967 immagini Full HD 1080p, pipeline di preprocessing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24028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240280"/>
            <a:ext cx="502920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331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SegFormer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7432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Transformer Encoder (MiT), Lightweight MLP Decoder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24028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240280"/>
            <a:ext cx="502920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24028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94960" y="2331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Esperimenti e Configurazioni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4960" y="27432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esperimenti sistematici, framework MMSegmentation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4747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474720"/>
            <a:ext cx="502920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0120" y="3566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 e Analisi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3977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 comparative, gap Val→Test, error analysis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4747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474720"/>
            <a:ext cx="502920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47472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94960" y="3566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 e Sviluppi Futuri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3977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model, limiti, roadmap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e Contesto Applicativo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957658"/>
            <a:ext cx="3840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4864" cy="3200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332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Applicazioni Principali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361188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Advertising: sostituzione digitale dei pannelli in real-time per mercati geografici diversi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Monitoring: misurazione automatica del tempo di esposizione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Sportive: visibilità pubblicitaria in funzione delle azioni di </a:t>
            </a:r>
            <a:r>
              <a:rPr lang="en-US" sz="14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gioco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960120"/>
            <a:ext cx="43891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960120"/>
            <a:ext cx="54864" cy="3200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03327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Sfide Specifiche del Dominio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1371600"/>
            <a:ext cx="41605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Occlusione dinamica: giocatori attraversano continuamente i pannelli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Variabilità prospettica: angolazioni e distorsioni geometriche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Illuminazione variabile: luci stadio, riflessi, temperature di colore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blur: rapido movimento della telecamera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426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Formalizzazione del Problema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72794" y="68861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Segmentazione semantica binaria pixel-wise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288D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43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∈ ℝ^{H×W×3}  →  M̂ ∈ {0,1}^{H×W}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pannello pubblicitario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background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02336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288D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143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Classification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463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M̂ (i,j) = 1  se pixel ∈ pannello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0  altrimenti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377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Metriche di Valutazione Adottate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154553"/>
              </p:ext>
            </p:extLst>
          </p:nvPr>
        </p:nvGraphicFramePr>
        <p:xfrm>
          <a:off x="365760" y="2743200"/>
          <a:ext cx="8412480" cy="20116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Descrizione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IoU (Jaccard)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IoU = |M ∩  M</a:t>
                      </a:r>
                      <a:r>
                        <a:rPr lang="en-US" sz="1100" i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̂ </a:t>
                      </a: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 / |M ∪ M</a:t>
                      </a:r>
                      <a:r>
                        <a:rPr lang="en-US" sz="1100" i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̂ </a:t>
                      </a: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Rapporto tra intersezione e unione — metrica principale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Dice (F1)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Dice = 2|M ∩ M</a:t>
                      </a:r>
                      <a:r>
                        <a:rPr lang="en-US" sz="1100" i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̂ </a:t>
                      </a: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 / (|M| + |M</a:t>
                      </a:r>
                      <a:r>
                        <a:rPr lang="en-US" sz="1100" i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̂ </a:t>
                      </a: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armonica Precision-Recall, bilanciata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/ (TP + FP)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 pixel predetti board sono corretti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/ (TP + FN)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 pixel board reali sono trovati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40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Dataset: Caratteristiche e Pipeline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45820" y="463143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custom annotato manualmente — nessun dataset pubblico disponibile per questo task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Caratteristiche del Dataset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4114800" cy="33832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Caratteristica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Immagini totali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Risoluzione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1920 × 1080 (Full HD)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 immagini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JPEG (qualità 95)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 maschere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PNG (lossless)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672 immagini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 immagini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 immagini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(background=0, board=1)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Sorgente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Highlights sportivi HD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75488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di Preprocessing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261872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261872"/>
            <a:ext cx="411480" cy="71323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1261872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257800" y="13075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Estrazione Frame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257800" y="1627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extract_frames.py — JPEG q95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2066544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2066544"/>
            <a:ext cx="411480" cy="71323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2066544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257800" y="21122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Annotazione Manuale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257800" y="24323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Poligoni su CVAT.ai → COCO JSON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54880" y="2871216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54880" y="2871216"/>
            <a:ext cx="411480" cy="71323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0" y="2871216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257800" y="29169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Generazione Maschere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257800" y="32369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CVAT_preparation.py → PNG binario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754880" y="3675888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54880" y="3675888"/>
            <a:ext cx="411480" cy="71323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54880" y="3675888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257800" y="37216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Qualità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257800" y="40416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check_masks.py — overlay visivo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SegFormer: Mix Transformer (MiT)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gerarchico a 4 stage + Lightweight MLP Decoder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MiT — Stage Gerarchici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8412480" cy="13716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Risoluzione (da 1080p)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Attn Heads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Funzione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H/4 × W/4  (270×480)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locali, bordi fini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H/8 × W/8  (135×240)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intermedie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H/16 × W/16  (67×120)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semantiche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H/32 × W/32  (33×60)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Contesto globale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3017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Chiave dell'Architettura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3337560"/>
            <a:ext cx="274320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0288D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34015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Self-Attention (ESA)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37947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xᶫ = ESA(LN(xᶫ⁻¹)) + xᶫ⁻¹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3337560"/>
            <a:ext cx="274320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0288D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383280" y="34015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Mix-FFN (agnostico alla risoluzione)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383280" y="37947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x_out = MLP(GELU(Conv_{3×3}(MLP(x_in))))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3337560"/>
            <a:ext cx="274320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0288D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09360" y="34015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Complessità ESA con SR Ratio 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309360" y="37947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O(n²/R²)  invece di  O(n²)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Scelta del Backbone: B0 vs B1 vs B2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Configurazioni SegFormer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372556"/>
              </p:ext>
            </p:extLst>
          </p:nvPr>
        </p:nvGraphicFramePr>
        <p:xfrm>
          <a:off x="365760" y="1261872"/>
          <a:ext cx="8412480" cy="13716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embed_dims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Rep./patch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Min.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~3.7M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dim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500 img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Sotto-capacità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~13.7M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dim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500–2000 img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</a:t>
                      </a:r>
                      <a:r>
                        <a:rPr lang="en-US" sz="1100" b="1" dirty="0" err="1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Ottimale</a:t>
                      </a: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(672 </a:t>
                      </a:r>
                      <a:r>
                        <a:rPr lang="en-US" sz="1100" b="1" dirty="0" err="1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img</a:t>
                      </a: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~25.4M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dim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2000 img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Overfitting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365760" y="278892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2788920"/>
            <a:ext cx="54864" cy="2011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28620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NON B0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3200400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embed_dims=32: rappresentazioni limitate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maps mostrano attivazioni deboli (blu nella heatmap)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Insufficiente per variabilità broadcast sportivo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46120" y="278892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2788920"/>
            <a:ext cx="54864" cy="2011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83280" y="28620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B1 ✓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83280" y="3200400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embed_dims=64: raddoppia la ricchezza rappresentativa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Val→Test solo -0.69% con augmentazioni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ottimale per 672 immagini di training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26480" y="278892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2788920"/>
            <a:ext cx="54864" cy="2011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63640" y="28620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NON B2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63640" y="3200400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embed_dims=128: richiede 2000-3000+ immagini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channels=512 peggiora su 672 img (Phase 5)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confermato empiricamente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Configurazioni Sperimentali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 Comuni a Tutti gli Esperimenti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601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Ottimizzatore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Scheduler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Iterations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 β=(0.9, 0.999)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wd=0.01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LinearLR warmup (0→1500)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PolyLR decay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T4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(Google Colab)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23317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Panoramica degli Esperimenti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516630"/>
              </p:ext>
            </p:extLst>
          </p:nvPr>
        </p:nvGraphicFramePr>
        <p:xfrm>
          <a:off x="365760" y="2651760"/>
          <a:ext cx="8412480" cy="229471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Augmentazioni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 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MiT-B0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6e-5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MMSeg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di riferimento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 Standard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MiT-B1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6e-5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MMSeg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backbone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Exp2 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 Augmented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MiT-B1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6e-5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Sport-specific Albu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Exp3-opt1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MiT-B1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3e-5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Sport-specific Albu reduced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it-IT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LR 3e-5 + decoder </a:t>
                      </a:r>
                      <a:r>
                        <a:rPr lang="it-IT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</a:t>
                      </a:r>
                      <a:r>
                        <a:rPr lang="it-IT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=512 + </a:t>
                      </a:r>
                      <a:r>
                        <a:rPr lang="it-IT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early</a:t>
                      </a:r>
                      <a:r>
                        <a:rPr lang="it-IT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stopping</a:t>
                      </a:r>
                      <a:r>
                        <a:rPr lang="it-IT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it-IT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patience</a:t>
                      </a:r>
                      <a:r>
                        <a:rPr lang="it-IT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Exp3-opt2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Optimized2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MiT-B1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it-IT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3e-5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Sport-specific Albu reduced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LR 3e-5 + decoder </a:t>
                      </a:r>
                      <a:r>
                        <a:rPr lang="it-IT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</a:t>
                      </a:r>
                      <a:r>
                        <a:rPr lang="it-IT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=256 + </a:t>
                      </a:r>
                      <a:r>
                        <a:rPr lang="it-IT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early</a:t>
                      </a:r>
                      <a:r>
                        <a:rPr lang="it-IT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stopping</a:t>
                      </a:r>
                      <a:r>
                        <a:rPr lang="it-IT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it-IT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patience</a:t>
                      </a:r>
                      <a:r>
                        <a:rPr lang="it-IT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Exp3-opt3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Optimized3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MiT-B1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6e-5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Sport-specific Albu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Drop_path</a:t>
                      </a: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=0.15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Augmentazioni Sport-Specific (Phase 4)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Tabella Augmentazioni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734450"/>
              </p:ext>
            </p:extLst>
          </p:nvPr>
        </p:nvGraphicFramePr>
        <p:xfrm>
          <a:off x="365760" y="1234440"/>
          <a:ext cx="8412480" cy="20116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Augmentazione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Motivazione del Dominio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MotionBlur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blur_limit=9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p=0.4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 movimento telecamera durante azioni di gioco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GaussNoise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var_limit=(10,50)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p=0.3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 compressione </a:t>
                      </a:r>
                      <a:r>
                        <a:rPr lang="en-US" sz="1100" dirty="0" err="1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segnale</a:t>
                      </a: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broadcast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RandomBrightnessContrast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p=0.4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 variazioni illuminazione luci stadio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HueSaturationValue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hue±20, sat±30, val±20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p=0.3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 differenze white balance tra telecamere diverse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CoarseDropout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holes=6, dim=80×80px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p=0.3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 occlusione parziale pannelli da giocatori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33832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Impatto delle Augmentazioni (Exp1 → Exp2, Test Set)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370332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7"/>
          <p:cNvSpPr/>
          <p:nvPr/>
        </p:nvSpPr>
        <p:spPr>
          <a:xfrm>
            <a:off x="457200" y="37490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mIoU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0416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84.29% → 87.26%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4343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+2.97%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514600" y="370332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606040" y="37490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606040" y="40416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79.26% → 85.76%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06040" y="4343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+6.50%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663440" y="370332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754880" y="37490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Val→Test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54880" y="40416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-4.07% → -0.69%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754880" y="4343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+3.38%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812280" y="370332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903720" y="37490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903720" y="40416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87.39% → 87.57%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903720" y="4343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+0.18%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Ottimizzazioni Architetturali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Modifiche testate sistematicamente — pattern emergente: Recall ↑ ma Precision ↓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723345"/>
              </p:ext>
            </p:extLst>
          </p:nvPr>
        </p:nvGraphicFramePr>
        <p:xfrm>
          <a:off x="365760" y="1005840"/>
          <a:ext cx="8412480" cy="291737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Motivazione Teorica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Risultato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Esito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3e-5 (↓ da 6e-5)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Convergenza più stabile su dataset piccolo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 20000 iter non converge completamente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Peggiora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Decoder channels 512 (↑ da 256)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Maggiore capacità per pannelli in prospettiva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 su 672 immagini di training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Peggiora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drop_path_rate</a:t>
                      </a:r>
                      <a:r>
                        <a:rPr lang="en-US" sz="110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Regolarizzazione stochastic depth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Neutro / lieve peggioramento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Neutro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sr_ratios=[4,2,1,1]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più locale per bordi obliqui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Incompatibile con pesi pre-addestrati ImageNet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 </a:t>
                      </a:r>
                      <a:r>
                        <a:rPr lang="en-US" sz="1100" dirty="0" err="1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utilizzata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Dice Loss + 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Bilanciamento background/board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Spinge</a:t>
                      </a: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verso Recall alto, Precision </a:t>
                      </a:r>
                      <a:r>
                        <a:rPr lang="en-US" sz="1100" dirty="0" err="1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 </a:t>
                      </a:r>
                      <a:r>
                        <a:rPr lang="en-US" sz="1100" dirty="0" err="1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utilizzata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Stopping (patience=5)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Evitare overfitting finale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Corretto in teoria ma non compensa gli altri limiti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Parziale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921369"/>
            <a:ext cx="8412480" cy="9144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3921369"/>
            <a:ext cx="73152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886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Chiave Identificato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modifica ha sistematicamente aumentato il Recall (fino a 89.47%) a scapito della Precision (fino a 78.66%), spostando il modello verso una segmentazione 'generosa' con falsi positivi. La soglia critica per sbloccare ottimizzazioni architetturali è stimata in 2000-3000 immagini.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28198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 Quantitativi — Validation Set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 immagini — checkpoint selezionato per best mIoU su validation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133860"/>
              </p:ext>
            </p:extLst>
          </p:nvPr>
        </p:nvGraphicFramePr>
        <p:xfrm>
          <a:off x="365760" y="1005840"/>
          <a:ext cx="8623494" cy="2103122"/>
        </p:xfrm>
        <a:graphic>
          <a:graphicData uri="http://schemas.openxmlformats.org/drawingml/2006/table">
            <a:tbl>
              <a:tblPr/>
              <a:tblGrid>
                <a:gridCol w="2351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08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5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65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65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23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Esperimento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Checkpoint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mIoU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Board IoU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Board 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mDice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Exp0 - B0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iter_18000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88.84%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79.95%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93.86%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Exp1 - B1 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iter_10000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88.36%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79.09%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92.01%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93.56%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Exp2 - B1 Augmented 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iter_14000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87.95%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78.33%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90.57%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Exp3 - Optimized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iter_14000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92.79%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92.51%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Exp3 - Optimized2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iter_12000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86.91%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76.55%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91.17%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92.67%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Exp3 - Optimized3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iter_18000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78.87%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94.18%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93.47%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200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Val mIoU più alto non è l'unico criterio di scelta — il gap Val→Test è la metrica decisionale chiave per la generalizzazione.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3611880"/>
          <a:ext cx="841248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 Quantitativi — Test Set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9283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 immagini mai viste durante training e validation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811991"/>
              </p:ext>
            </p:extLst>
          </p:nvPr>
        </p:nvGraphicFramePr>
        <p:xfrm>
          <a:off x="365760" y="1051560"/>
          <a:ext cx="8412480" cy="2103122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Esperimento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mIoU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 IoU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Exp0 - B0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76.28%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86.55%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84.13%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Exp1 - B1 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84.29%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71.12%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83.12%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79.26%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87.39%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9A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Exp2 - B1 Augmented 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9A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87.26%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9A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76.45%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9A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86.66%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9A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9A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Exp3 - Optimized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84.58%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71.68%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83.51%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78.66%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88.99%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Exp3 - Optimized2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84.92%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72.26%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87.71%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Exp3 - Optimized3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86.42%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74.99%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89.47%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337560"/>
            <a:ext cx="192024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F9A82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3383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mIoU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3657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87.26%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57200" y="4251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Exp2 Test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14600" y="3337560"/>
            <a:ext cx="192024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F9A82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9"/>
          <p:cNvSpPr/>
          <p:nvPr/>
        </p:nvSpPr>
        <p:spPr>
          <a:xfrm>
            <a:off x="2606040" y="3383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IoU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606040" y="3657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76.45%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06040" y="4251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Exp2 Test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63440" y="3337560"/>
            <a:ext cx="192024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F9A82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754880" y="3383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754880" y="3657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85.76%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4754880" y="4251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Exp2 Test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812280" y="3337560"/>
            <a:ext cx="192024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F9A82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903720" y="3383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Val→Test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903720" y="3657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-0.69%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6903720" y="4251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assoluto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del Gap Val → Test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Val→Test per ogni Esperimento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989252"/>
              </p:ext>
            </p:extLst>
          </p:nvPr>
        </p:nvGraphicFramePr>
        <p:xfrm>
          <a:off x="365760" y="1234440"/>
          <a:ext cx="8412480" cy="2011681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Esperimento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mIoU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mIoU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Val→Test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Interpretazione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Exp0 - B0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88.84%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-1.69%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Buona generalizzazione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Exp1 - B1 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88.36%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84.29%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-4.07%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 moderato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Exp2 - B1 Augmented 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87.95%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87.26%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-0.69%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OTTIMA generalizzazione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Exp3 - Optimized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84.58%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intermedio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Exp3 - Optimized2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86.91%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84.92%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-1.99%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intermedio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73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Exp3 - Optimized3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86.42%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-1.78%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Discreta generalizzazione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Chart 0"/>
          <p:cNvGraphicFramePr/>
          <p:nvPr/>
        </p:nvGraphicFramePr>
        <p:xfrm>
          <a:off x="365760" y="3337560"/>
          <a:ext cx="841248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Critica: Categorie di Errore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269748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0584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17043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Occlusione da Giocatori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2514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 positivi sul corpo del giocatore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modello completa la forma orizzontale del pannello includendo il giocatore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CoarseDropout mitiga ma non </a:t>
            </a:r>
            <a:r>
              <a:rPr lang="en-US" sz="14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risolve</a:t>
            </a: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completamente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960120"/>
            <a:ext cx="269748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00584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117043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Prospettiva Estrema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1508760"/>
            <a:ext cx="2514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Pannelli quasi laterali diventano strisce di pochi pixel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 negativi: oggetti troppo sottili non rilevati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</a:t>
            </a:r>
            <a:r>
              <a:rPr lang="en-US" sz="14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fondamentale</a:t>
            </a: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dell'architettura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96012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960120"/>
            <a:ext cx="2697480" cy="4572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00584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117043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Confusione Cromatica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1508760"/>
            <a:ext cx="2514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Pannelli con colori simili alle maglie dei giocatori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ricorrente: pubblicità Emirates (rosso) vs maglie rosse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Errori di bordo, non di rilevamento completo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Parzialmente mitigato da HueSaturationValue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solidFill>
            <a:srgbClr val="E3F2FD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Exp2 - B1 Augmented: miglior bilanciamento FP/FN — media IoU più alta e varianza più bassa su tutto il test set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Maps &amp; Predictions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il modello 'guarda' durante la segmentazione — Exp0 (B0) vs Exp1 (B1 Standard) vs Exp2 (B1 Augmented)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37028"/>
            <a:ext cx="8778240" cy="4073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FP / FN Pixel Counts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pixel-level: B0 Baseline | B1 Standard | B1 Augmented - Test Set (146 immagini)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005840"/>
            <a:ext cx="640080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Sviluppi Futuri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6974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269748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058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Breve (senza nuovo training)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2514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Time Augmentation (TTA): flip orizzontale + multi-scale → +1-2% mIoU stimato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Supporto </a:t>
            </a:r>
            <a:r>
              <a:rPr lang="en-US" sz="14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nativo</a:t>
            </a: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MMSegmentation</a:t>
            </a: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TTA, zero overhead di training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6974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60120"/>
            <a:ext cx="269748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0058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(medio termine)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1463040"/>
            <a:ext cx="2514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Espansione a 2000-3000 immagini mantenendo qualità 1080p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Annotazioni più precise sui bordi in occlusione parziale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Instance-aware dropout: rimuove selettivamente regioni giocatori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6974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60120"/>
            <a:ext cx="2697480" cy="4114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6" name="Text 14"/>
          <p:cNvSpPr/>
          <p:nvPr/>
        </p:nvSpPr>
        <p:spPr>
          <a:xfrm>
            <a:off x="6217920" y="10058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1463040"/>
            <a:ext cx="2514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SegFormer-B2/B3 con embed_dims=128 (&gt;2000 img necessarie)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Pseudo-labeling: maschere automatiche su video non annotati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adaptation: pretraining su dataset sportivi pubblici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Mask2Former: attention cross-modale per separare istanze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Exp2 — SegFormer-B1 Augmented | mIoU 87.26% | Gap -0.69%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11480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288D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457200" cy="118872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457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463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Custom 1080p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967 immagini annotate manualmente in Full HD — superiore ai dataset pubblici che operano a 640×640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371600"/>
            <a:ext cx="411480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288D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371600"/>
            <a:ext cx="457200" cy="118872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371600"/>
            <a:ext cx="457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49240" y="1463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Empirica Sistematica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49240" y="18288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configurazioni con metriche complete su val e test separati → 3 leggi empiriche identificate per il dominio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411480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288D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43200"/>
            <a:ext cx="457200" cy="118872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43200"/>
            <a:ext cx="457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2834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Architetturale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2004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maps: B1 (embed_dims=64) estrae rappresentazioni più ricche di B0 (embed_dims=32) — evidenza visiva diretta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2743200"/>
            <a:ext cx="411480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288D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743200"/>
            <a:ext cx="457200" cy="118872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743200"/>
            <a:ext cx="457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49240" y="2834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Sinergia SegFormer + 1080p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49240" y="32004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Mix-FFN agnostico alla risoluzione + encoder MiT → architetturalmente superiore a CNN e ViT su dataset HD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github.com/ilMassy/advertising-panel-segmentation  |  HuggingFace: huggingface.co/ilMassy/advertising-panel-segmentation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razie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t-IT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Grazie per l’attenzione</a:t>
            </a:r>
            <a:endParaRPr lang="it-IT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it-IT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it-IT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Massimiliano Giangreco  |  Matricola 561883  |  A.A. 2025/2026</a:t>
            </a:r>
            <a:endParaRPr lang="it-IT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2039</Words>
  <Application>Microsoft Office PowerPoint</Application>
  <PresentationFormat>Presentazione su schermo (16:9)</PresentationFormat>
  <Paragraphs>517</Paragraphs>
  <Slides>19</Slides>
  <Notes>18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SegFormer per Segmentazione Pannelli Pubblicitari LED</dc:title>
  <dc:subject>PptxGenJS Presentation</dc:subject>
  <dc:creator>Massimiliano Giangreco</dc:creator>
  <cp:lastModifiedBy>Maria Teresa Epifanio</cp:lastModifiedBy>
  <cp:revision>22</cp:revision>
  <dcterms:created xsi:type="dcterms:W3CDTF">2026-04-06T18:24:13Z</dcterms:created>
  <dcterms:modified xsi:type="dcterms:W3CDTF">2026-04-09T17:13:53Z</dcterms:modified>
</cp:coreProperties>
</file>